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75" r:id="rId7"/>
    <p:sldId id="257" r:id="rId8"/>
    <p:sldId id="258" r:id="rId9"/>
    <p:sldId id="260" r:id="rId10"/>
    <p:sldId id="274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64" userDrawn="1">
          <p15:clr>
            <a:srgbClr val="747775"/>
          </p15:clr>
        </p15:guide>
        <p15:guide id="2" pos="280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64"/>
        <p:guide pos="280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大家好，欢迎参加本次关于人工智能发展趋势的深度解析。今天，我们将共同探讨2026年AI产业的最新动态和未来走向。本次报告将从市场、技术、产业、竞争和治理等多个维度，为您呈现一幅全面的AI发展图景。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本次报告将分为六个部分。首先，我们将概览全球AI市场的宏观态势；接着，深入探讨世界模型、AI Agent等核心技术前沿；然后，我们会展示AI在工业、医疗等关键产业的落地应用；之后，分析全球竞争格局；并讨论随之而来的挑战与治理；最后，对未来进行展望并提出战略建议。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本次报告将分为六个部分。首先，我们将概览全球AI市场的宏观态势；接着，深入探讨世界模型、AI Agent等核心技术前沿；然后，我们会展示AI在工业、医疗等关键产业的落地应用；之后，分析全球竞争格局；并讨论随之而来的挑战与治理；最后，对未来进行展望并提出战略建议。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首先来看执行摘要。2026年是AI产业的“价值兑现”元年。全球市场规模预计将达到9000亿美元，中国市场更是高速增长。技术上，世界模型、AI Agent和多模态融合成为三大核心引擎。AI不再是辅助工具，而是真正深入到各行各业的核心生产力。同时，全球竞争格局高度集中，监管也成为不可忽视的关键议题。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产业链已形成完整架构。上游基础层是AI的“水电煤”，包括算力、数据和软件，其中国产AI芯片实现了关键突破。中游技术层是AI的“大脑”，以预训练大模型为核心。下游应用层则是AI的“手脚”，深入企业级和民生场景，创造实际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我的报告到此结束，感谢大家的聆听。希望今天的分享能为大家带来一些启发。谢谢！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3" Type="http://schemas.openxmlformats.org/officeDocument/2006/relationships/notesSlide" Target="../notesSlides/notesSlide2.xml"/><Relationship Id="rId32" Type="http://schemas.openxmlformats.org/officeDocument/2006/relationships/slideLayout" Target="../slideLayouts/slideLayout13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tags" Target="../tags/tag36.xml"/><Relationship Id="rId38" Type="http://schemas.openxmlformats.org/officeDocument/2006/relationships/notesSlide" Target="../notesSlides/notesSlide4.xml"/><Relationship Id="rId37" Type="http://schemas.openxmlformats.org/officeDocument/2006/relationships/slideLayout" Target="../slideLayouts/slideLayout12.xml"/><Relationship Id="rId36" Type="http://schemas.openxmlformats.org/officeDocument/2006/relationships/tags" Target="../tags/tag58.xml"/><Relationship Id="rId35" Type="http://schemas.openxmlformats.org/officeDocument/2006/relationships/tags" Target="../tags/tag57.xml"/><Relationship Id="rId34" Type="http://schemas.openxmlformats.org/officeDocument/2006/relationships/image" Target="../media/image12.svg"/><Relationship Id="rId33" Type="http://schemas.openxmlformats.org/officeDocument/2006/relationships/image" Target="../media/image11.png"/><Relationship Id="rId32" Type="http://schemas.openxmlformats.org/officeDocument/2006/relationships/tags" Target="../tags/tag56.xml"/><Relationship Id="rId31" Type="http://schemas.openxmlformats.org/officeDocument/2006/relationships/tags" Target="../tags/tag55.xml"/><Relationship Id="rId30" Type="http://schemas.openxmlformats.org/officeDocument/2006/relationships/tags" Target="../tags/tag54.xml"/><Relationship Id="rId3" Type="http://schemas.openxmlformats.org/officeDocument/2006/relationships/tags" Target="../tags/tag35.xml"/><Relationship Id="rId29" Type="http://schemas.openxmlformats.org/officeDocument/2006/relationships/tags" Target="../tags/tag53.xml"/><Relationship Id="rId28" Type="http://schemas.openxmlformats.org/officeDocument/2006/relationships/tags" Target="../tags/tag52.xml"/><Relationship Id="rId27" Type="http://schemas.openxmlformats.org/officeDocument/2006/relationships/image" Target="../media/image10.svg"/><Relationship Id="rId26" Type="http://schemas.openxmlformats.org/officeDocument/2006/relationships/image" Target="../media/image9.png"/><Relationship Id="rId25" Type="http://schemas.openxmlformats.org/officeDocument/2006/relationships/tags" Target="../tags/tag51.xml"/><Relationship Id="rId24" Type="http://schemas.openxmlformats.org/officeDocument/2006/relationships/tags" Target="../tags/tag50.xml"/><Relationship Id="rId23" Type="http://schemas.openxmlformats.org/officeDocument/2006/relationships/tags" Target="../tags/tag49.xml"/><Relationship Id="rId22" Type="http://schemas.openxmlformats.org/officeDocument/2006/relationships/tags" Target="../tags/tag48.xml"/><Relationship Id="rId21" Type="http://schemas.openxmlformats.org/officeDocument/2006/relationships/tags" Target="../tags/tag47.xml"/><Relationship Id="rId20" Type="http://schemas.openxmlformats.org/officeDocument/2006/relationships/image" Target="../media/image8.svg"/><Relationship Id="rId2" Type="http://schemas.openxmlformats.org/officeDocument/2006/relationships/tags" Target="../tags/tag34.xml"/><Relationship Id="rId19" Type="http://schemas.openxmlformats.org/officeDocument/2006/relationships/image" Target="../media/image7.png"/><Relationship Id="rId18" Type="http://schemas.openxmlformats.org/officeDocument/2006/relationships/tags" Target="../tags/tag46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image" Target="../media/image6.svg"/><Relationship Id="rId12" Type="http://schemas.openxmlformats.org/officeDocument/2006/relationships/image" Target="../media/image5.png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image" Target="../media/image13.jpeg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5.png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cover-title"/>
          <p:cNvSpPr/>
          <p:nvPr/>
        </p:nvSpPr>
        <p:spPr>
          <a:xfrm>
            <a:off x="0" y="2540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人工智能发展趋势深度解析</a:t>
            </a:r>
            <a:endParaRPr lang="en-US" sz="1100"/>
          </a:p>
        </p:txBody>
      </p:sp>
      <p:sp>
        <p:nvSpPr>
          <p:cNvPr id="4" name="cover-title-desc"/>
          <p:cNvSpPr/>
          <p:nvPr/>
        </p:nvSpPr>
        <p:spPr>
          <a:xfrm>
            <a:off x="0" y="3683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 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461000" y="4699000"/>
            <a:ext cx="1270000" cy="50800"/>
          </a:xfrm>
          <a:prstGeom prst="roundRect">
            <a:avLst>
              <a:gd name="adj" fmla="val 5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cover-author"/>
          <p:cNvSpPr txBox="1"/>
          <p:nvPr/>
        </p:nvSpPr>
        <p:spPr>
          <a:xfrm>
            <a:off x="306705" y="5487035"/>
            <a:ext cx="11482705" cy="534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400" b="1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作者：</a:t>
            </a:r>
            <a:r>
              <a:rPr lang="zh-CN" altLang="en-US" sz="2400" b="1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李某</a:t>
            </a:r>
            <a:endParaRPr lang="zh-CN" altLang="en-US" sz="2400" b="1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SpeechTime"/>
          <p:cNvSpPr txBox="1"/>
          <p:nvPr/>
        </p:nvSpPr>
        <p:spPr>
          <a:xfrm>
            <a:off x="306705" y="6021070"/>
            <a:ext cx="3729355" cy="534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演讲时间</a:t>
            </a:r>
            <a:r>
              <a:rPr lang="en-US" sz="2400" b="1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：2026-4-22</a:t>
            </a:r>
            <a:endParaRPr lang="zh-CN" altLang="en-US" sz="3200" b="1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397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1016000" y="1651000"/>
            <a:ext cx="889000" cy="889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1016000" y="1803400"/>
            <a:ext cx="88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category-title1"/>
          <p:cNvSpPr/>
          <p:nvPr>
            <p:custDataLst>
              <p:tags r:id="rId5"/>
            </p:custDataLst>
          </p:nvPr>
        </p:nvSpPr>
        <p:spPr>
          <a:xfrm>
            <a:off x="2159000" y="16764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全球市场概览</a:t>
            </a:r>
            <a:endParaRPr lang="en-US" sz="1100"/>
          </a:p>
        </p:txBody>
      </p:sp>
      <p:sp>
        <p:nvSpPr>
          <p:cNvPr id="8" name="category-title1-desc"/>
          <p:cNvSpPr/>
          <p:nvPr>
            <p:custDataLst>
              <p:tags r:id="rId6"/>
            </p:custDataLst>
          </p:nvPr>
        </p:nvSpPr>
        <p:spPr>
          <a:xfrm>
            <a:off x="2159000" y="21336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市场规模与增长预测 | 产业链上下游结构深度解析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762000" y="3048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1016000" y="3302000"/>
            <a:ext cx="889000" cy="889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1016000" y="3454400"/>
            <a:ext cx="88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category-title2"/>
          <p:cNvSpPr/>
          <p:nvPr>
            <p:custDataLst>
              <p:tags r:id="rId10"/>
            </p:custDataLst>
          </p:nvPr>
        </p:nvSpPr>
        <p:spPr>
          <a:xfrm>
            <a:off x="2159000" y="33274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核心技术前沿与范式变革</a:t>
            </a:r>
            <a:endParaRPr lang="en-US" sz="1100"/>
          </a:p>
        </p:txBody>
      </p:sp>
      <p:sp>
        <p:nvSpPr>
          <p:cNvPr id="13" name="category-title2-desc"/>
          <p:cNvSpPr/>
          <p:nvPr>
            <p:custDataLst>
              <p:tags r:id="rId11"/>
            </p:custDataLst>
          </p:nvPr>
        </p:nvSpPr>
        <p:spPr>
          <a:xfrm>
            <a:off x="2159000" y="37846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世界模型(World Model) · AI Agent商用元年 · 多模态原生融合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762000" y="4699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1016000" y="4953000"/>
            <a:ext cx="889000" cy="889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4"/>
            </p:custDataLst>
          </p:nvPr>
        </p:nvSpPr>
        <p:spPr>
          <a:xfrm>
            <a:off x="1016000" y="5105400"/>
            <a:ext cx="88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7" name="category-title3"/>
          <p:cNvSpPr/>
          <p:nvPr>
            <p:custDataLst>
              <p:tags r:id="rId15"/>
            </p:custDataLst>
          </p:nvPr>
        </p:nvSpPr>
        <p:spPr>
          <a:xfrm>
            <a:off x="2159000" y="49784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产业应用深度落地</a:t>
            </a:r>
            <a:endParaRPr lang="en-US" sz="1100"/>
          </a:p>
        </p:txBody>
      </p:sp>
      <p:sp>
        <p:nvSpPr>
          <p:cNvPr id="18" name="category-title3-desc"/>
          <p:cNvSpPr/>
          <p:nvPr>
            <p:custDataLst>
              <p:tags r:id="rId16"/>
            </p:custDataLst>
          </p:nvPr>
        </p:nvSpPr>
        <p:spPr>
          <a:xfrm>
            <a:off x="2159000" y="54356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覆盖工业制造、医疗健康、金融科技、内容创作及具身智能领域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7"/>
            </p:custDataLst>
          </p:nvPr>
        </p:nvSpPr>
        <p:spPr>
          <a:xfrm>
            <a:off x="6223000" y="1397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18"/>
            </p:custDataLst>
          </p:nvPr>
        </p:nvSpPr>
        <p:spPr>
          <a:xfrm>
            <a:off x="6477000" y="1651000"/>
            <a:ext cx="889000" cy="889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19"/>
            </p:custDataLst>
          </p:nvPr>
        </p:nvSpPr>
        <p:spPr>
          <a:xfrm>
            <a:off x="6477000" y="1803400"/>
            <a:ext cx="88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2" name="category-title4"/>
          <p:cNvSpPr/>
          <p:nvPr>
            <p:custDataLst>
              <p:tags r:id="rId20"/>
            </p:custDataLst>
          </p:nvPr>
        </p:nvSpPr>
        <p:spPr>
          <a:xfrm>
            <a:off x="7620000" y="16764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全球竞争格局分析</a:t>
            </a:r>
            <a:endParaRPr lang="en-US" sz="1100"/>
          </a:p>
        </p:txBody>
      </p:sp>
      <p:sp>
        <p:nvSpPr>
          <p:cNvPr id="23" name="category-title4-desc"/>
          <p:cNvSpPr/>
          <p:nvPr>
            <p:custDataLst>
              <p:tags r:id="rId21"/>
            </p:custDataLst>
          </p:nvPr>
        </p:nvSpPr>
        <p:spPr>
          <a:xfrm>
            <a:off x="7620000" y="21336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全球大模型行业梯队格局全景图与区域发展差异对比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22"/>
            </p:custDataLst>
          </p:nvPr>
        </p:nvSpPr>
        <p:spPr>
          <a:xfrm>
            <a:off x="6223000" y="3048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>
            <p:custDataLst>
              <p:tags r:id="rId23"/>
            </p:custDataLst>
          </p:nvPr>
        </p:nvSpPr>
        <p:spPr>
          <a:xfrm>
            <a:off x="6477000" y="3302000"/>
            <a:ext cx="889000" cy="889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>
            <p:custDataLst>
              <p:tags r:id="rId24"/>
            </p:custDataLst>
          </p:nvPr>
        </p:nvSpPr>
        <p:spPr>
          <a:xfrm>
            <a:off x="6477000" y="3454400"/>
            <a:ext cx="88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7" name="category-title5"/>
          <p:cNvSpPr/>
          <p:nvPr>
            <p:custDataLst>
              <p:tags r:id="rId25"/>
            </p:custDataLst>
          </p:nvPr>
        </p:nvSpPr>
        <p:spPr>
          <a:xfrm>
            <a:off x="7620000" y="33274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挑战、风险与全球治理</a:t>
            </a:r>
            <a:endParaRPr lang="en-US" sz="1100"/>
          </a:p>
        </p:txBody>
      </p:sp>
      <p:sp>
        <p:nvSpPr>
          <p:cNvPr id="28" name="category-title5-desc"/>
          <p:cNvSpPr/>
          <p:nvPr>
            <p:custDataLst>
              <p:tags r:id="rId26"/>
            </p:custDataLst>
          </p:nvPr>
        </p:nvSpPr>
        <p:spPr>
          <a:xfrm>
            <a:off x="7620000" y="37846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技术发展核心挑战与欧盟《人工智能法案》的合规治理框架</a:t>
            </a:r>
            <a:endParaRPr lang="en-US" sz="1100"/>
          </a:p>
        </p:txBody>
      </p:sp>
      <p:sp>
        <p:nvSpPr>
          <p:cNvPr id="29" name="AutoShape 29"/>
          <p:cNvSpPr/>
          <p:nvPr>
            <p:custDataLst>
              <p:tags r:id="rId27"/>
            </p:custDataLst>
          </p:nvPr>
        </p:nvSpPr>
        <p:spPr>
          <a:xfrm>
            <a:off x="6223000" y="4699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>
            <p:custDataLst>
              <p:tags r:id="rId28"/>
            </p:custDataLst>
          </p:nvPr>
        </p:nvSpPr>
        <p:spPr>
          <a:xfrm>
            <a:off x="6477000" y="4953000"/>
            <a:ext cx="889000" cy="889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>
            <p:custDataLst>
              <p:tags r:id="rId29"/>
            </p:custDataLst>
          </p:nvPr>
        </p:nvSpPr>
        <p:spPr>
          <a:xfrm>
            <a:off x="6477000" y="5105400"/>
            <a:ext cx="88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32" name="category-title6"/>
          <p:cNvSpPr/>
          <p:nvPr>
            <p:custDataLst>
              <p:tags r:id="rId30"/>
            </p:custDataLst>
          </p:nvPr>
        </p:nvSpPr>
        <p:spPr>
          <a:xfrm>
            <a:off x="7620000" y="49784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未来展望与战略建议</a:t>
            </a:r>
            <a:endParaRPr lang="en-US" sz="1100"/>
          </a:p>
        </p:txBody>
      </p:sp>
      <p:sp>
        <p:nvSpPr>
          <p:cNvPr id="33" name="category-title6-desc"/>
          <p:cNvSpPr/>
          <p:nvPr>
            <p:custDataLst>
              <p:tags r:id="rId31"/>
            </p:custDataLst>
          </p:nvPr>
        </p:nvSpPr>
        <p:spPr>
          <a:xfrm>
            <a:off x="7620000" y="54356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AI行业未来发展趋势洞察与企业关键战略布局方向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1"/>
          <p:cNvSpPr/>
          <p:nvPr>
            <p:custDataLst>
              <p:tags r:id="rId2"/>
            </p:custDataLst>
          </p:nvPr>
        </p:nvSpPr>
        <p:spPr>
          <a:xfrm>
            <a:off x="1355090" y="2980055"/>
            <a:ext cx="889000" cy="889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catelog-index"/>
          <p:cNvSpPr/>
          <p:nvPr>
            <p:custDataLst>
              <p:tags r:id="rId3"/>
            </p:custDataLst>
          </p:nvPr>
        </p:nvSpPr>
        <p:spPr>
          <a:xfrm>
            <a:off x="1355090" y="3132455"/>
            <a:ext cx="88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29" name="AutoShape 29"/>
          <p:cNvSpPr/>
          <p:nvPr>
            <p:custDataLst>
              <p:tags r:id="rId4"/>
            </p:custDataLst>
          </p:nvPr>
        </p:nvSpPr>
        <p:spPr>
          <a:xfrm>
            <a:off x="6223000" y="4699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catelog-index-name"/>
          <p:cNvSpPr txBox="1"/>
          <p:nvPr/>
        </p:nvSpPr>
        <p:spPr>
          <a:xfrm>
            <a:off x="2614295" y="3037840"/>
            <a:ext cx="6582410" cy="831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>
                <a:latin typeface="Noto Sans SC" panose="020B0200000000000000" charset="-122"/>
                <a:ea typeface="Noto Sans SC" panose="020B0200000000000000" charset="-122"/>
              </a:rPr>
              <a:t>目录</a:t>
            </a:r>
            <a:r>
              <a:rPr lang="en-US" sz="4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一</a:t>
            </a:r>
            <a:endParaRPr lang="zh-CN" altLang="en-US" sz="4000"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-title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执行摘要：AI迈入“价值兑现”黄金周期</a:t>
            </a:r>
            <a:endParaRPr lang="en-US" sz="1100"/>
          </a:p>
        </p:txBody>
      </p:sp>
      <p:sp>
        <p:nvSpPr>
          <p:cNvPr id="4" name="content-title-desc"/>
          <p:cNvSpPr/>
          <p:nvPr/>
        </p:nvSpPr>
        <p:spPr>
          <a:xfrm>
            <a:off x="762000" y="1206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2026年，AI产业从技术革命全面转向产业革命，核心引擎是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世界模型、AI Agent、多模态原生融合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952500" y="2095500"/>
            <a:ext cx="609600" cy="6096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4100" y="2197100"/>
            <a:ext cx="406400" cy="406400"/>
          </a:xfrm>
          <a:prstGeom prst="rect">
            <a:avLst/>
          </a:prstGeom>
        </p:spPr>
      </p:pic>
      <p:sp>
        <p:nvSpPr>
          <p:cNvPr id="8" name="content-item1-title"/>
          <p:cNvSpPr/>
          <p:nvPr>
            <p:custDataLst>
              <p:tags r:id="rId7"/>
            </p:custDataLst>
          </p:nvPr>
        </p:nvSpPr>
        <p:spPr>
          <a:xfrm>
            <a:off x="1778000" y="20574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市场高速增长 · 规模爆发</a:t>
            </a:r>
            <a:endParaRPr lang="en-US" sz="1100"/>
          </a:p>
        </p:txBody>
      </p:sp>
      <p:sp>
        <p:nvSpPr>
          <p:cNvPr id="9" name="content-item1-title-desc"/>
          <p:cNvSpPr/>
          <p:nvPr>
            <p:custDataLst>
              <p:tags r:id="rId8"/>
            </p:custDataLst>
          </p:nvPr>
        </p:nvSpPr>
        <p:spPr>
          <a:xfrm>
            <a:off x="1778000" y="24384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全球市场规模预计突破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9000亿美元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中国核心产业规模有望达到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1.2万亿元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762000" y="3492500"/>
            <a:ext cx="5207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952500" y="3746500"/>
            <a:ext cx="609600" cy="6096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4100" y="3848100"/>
            <a:ext cx="406400" cy="406400"/>
          </a:xfrm>
          <a:prstGeom prst="rect">
            <a:avLst/>
          </a:prstGeom>
        </p:spPr>
      </p:pic>
      <p:sp>
        <p:nvSpPr>
          <p:cNvPr id="13" name="content-item2-title"/>
          <p:cNvSpPr/>
          <p:nvPr>
            <p:custDataLst>
              <p:tags r:id="rId14"/>
            </p:custDataLst>
          </p:nvPr>
        </p:nvSpPr>
        <p:spPr>
          <a:xfrm>
            <a:off x="1778000" y="36830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技术范式变革 · 核心引擎</a:t>
            </a:r>
            <a:endParaRPr lang="en-US" sz="1100"/>
          </a:p>
        </p:txBody>
      </p:sp>
      <p:sp>
        <p:nvSpPr>
          <p:cNvPr id="14" name="content-item2-title-desc"/>
          <p:cNvSpPr/>
          <p:nvPr>
            <p:custDataLst>
              <p:tags r:id="rId15"/>
            </p:custDataLst>
          </p:nvPr>
        </p:nvSpPr>
        <p:spPr>
          <a:xfrm>
            <a:off x="1778000" y="40894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世界模型：理解物理世界规律；AI Agent：自主“数字员工”；</a:t>
            </a:r>
            <a:b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多模态融合：统一感知处理能力成为行业标配。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762000" y="5207000"/>
            <a:ext cx="5207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952500" y="5397500"/>
            <a:ext cx="609600" cy="6096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54100" y="5499100"/>
            <a:ext cx="406400" cy="406400"/>
          </a:xfrm>
          <a:prstGeom prst="rect">
            <a:avLst/>
          </a:prstGeom>
        </p:spPr>
      </p:pic>
      <p:sp>
        <p:nvSpPr>
          <p:cNvPr id="18" name="content-item3-title"/>
          <p:cNvSpPr/>
          <p:nvPr>
            <p:custDataLst>
              <p:tags r:id="rId21"/>
            </p:custDataLst>
          </p:nvPr>
        </p:nvSpPr>
        <p:spPr>
          <a:xfrm>
            <a:off x="1778000" y="53340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产业深度渗透 · 全维赋能</a:t>
            </a:r>
            <a:endParaRPr lang="en-US" sz="1100"/>
          </a:p>
        </p:txBody>
      </p:sp>
      <p:sp>
        <p:nvSpPr>
          <p:cNvPr id="19" name="content-item3-title-desc"/>
          <p:cNvSpPr/>
          <p:nvPr>
            <p:custDataLst>
              <p:tags r:id="rId22"/>
            </p:custDataLst>
          </p:nvPr>
        </p:nvSpPr>
        <p:spPr>
          <a:xfrm>
            <a:off x="1778000" y="57150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成为驱动变革的核心生产力，在工业、医疗、金融、创作等领域实现显著价值落地。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23"/>
            </p:custDataLst>
          </p:nvPr>
        </p:nvSpPr>
        <p:spPr>
          <a:xfrm>
            <a:off x="6223000" y="1905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24"/>
            </p:custDataLst>
          </p:nvPr>
        </p:nvSpPr>
        <p:spPr>
          <a:xfrm>
            <a:off x="6413500" y="2159000"/>
            <a:ext cx="609600" cy="6096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515100" y="2260600"/>
            <a:ext cx="406400" cy="406400"/>
          </a:xfrm>
          <a:prstGeom prst="rect">
            <a:avLst/>
          </a:prstGeom>
        </p:spPr>
      </p:pic>
      <p:sp>
        <p:nvSpPr>
          <p:cNvPr id="23" name="content-item4-title"/>
          <p:cNvSpPr/>
          <p:nvPr>
            <p:custDataLst>
              <p:tags r:id="rId28"/>
            </p:custDataLst>
          </p:nvPr>
        </p:nvSpPr>
        <p:spPr>
          <a:xfrm>
            <a:off x="7239000" y="20955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全球竞争格局 · 高度集中</a:t>
            </a:r>
            <a:endParaRPr lang="en-US" sz="1100"/>
          </a:p>
        </p:txBody>
      </p:sp>
      <p:sp>
        <p:nvSpPr>
          <p:cNvPr id="24" name="content-item4-title-desc"/>
          <p:cNvSpPr/>
          <p:nvPr>
            <p:custDataLst>
              <p:tags r:id="rId29"/>
            </p:custDataLst>
          </p:nvPr>
        </p:nvSpPr>
        <p:spPr>
          <a:xfrm>
            <a:off x="7239000" y="2476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呈现“一超多强”发展态势，核心技术研发与产业资本向头部企业高度集聚，技术壁垒与护城河持续加深。</a:t>
            </a:r>
            <a:endParaRPr lang="en-US" sz="1100"/>
          </a:p>
        </p:txBody>
      </p:sp>
      <p:sp>
        <p:nvSpPr>
          <p:cNvPr id="25" name="AutoShape 25"/>
          <p:cNvSpPr/>
          <p:nvPr>
            <p:custDataLst>
              <p:tags r:id="rId30"/>
            </p:custDataLst>
          </p:nvPr>
        </p:nvSpPr>
        <p:spPr>
          <a:xfrm>
            <a:off x="6223000" y="3683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>
            <p:custDataLst>
              <p:tags r:id="rId31"/>
            </p:custDataLst>
          </p:nvPr>
        </p:nvSpPr>
        <p:spPr>
          <a:xfrm>
            <a:off x="6413500" y="3937000"/>
            <a:ext cx="609600" cy="6096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515100" y="4038600"/>
            <a:ext cx="406400" cy="406400"/>
          </a:xfrm>
          <a:prstGeom prst="rect">
            <a:avLst/>
          </a:prstGeom>
        </p:spPr>
      </p:pic>
      <p:sp>
        <p:nvSpPr>
          <p:cNvPr id="28" name="content-item5-title"/>
          <p:cNvSpPr/>
          <p:nvPr>
            <p:custDataLst>
              <p:tags r:id="rId35"/>
            </p:custDataLst>
          </p:nvPr>
        </p:nvSpPr>
        <p:spPr>
          <a:xfrm>
            <a:off x="7239000" y="38735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监管与治理 · 合规先行</a:t>
            </a:r>
            <a:endParaRPr lang="en-US" sz="1100"/>
          </a:p>
        </p:txBody>
      </p:sp>
      <p:sp>
        <p:nvSpPr>
          <p:cNvPr id="29" name="content-item5-title-desc"/>
          <p:cNvSpPr/>
          <p:nvPr>
            <p:custDataLst>
              <p:tags r:id="rId36"/>
            </p:custDataLst>
          </p:nvPr>
        </p:nvSpPr>
        <p:spPr>
          <a:xfrm>
            <a:off x="7239000" y="4254500"/>
            <a:ext cx="393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全球AI监管框架与伦理准则日趋完善，合规性已成为企业可持续发展的必备条件与核心竞争力之一。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compare-title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全球市场概览：产业链结构解析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397000"/>
            <a:ext cx="3302000" cy="4826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compare-item1-image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692" b="692"/>
          <a:stretch>
            <a:fillRect/>
          </a:stretch>
        </p:blipFill>
        <p:spPr>
          <a:xfrm>
            <a:off x="952500" y="1651000"/>
            <a:ext cx="2921000" cy="203200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compare-item1-title"/>
          <p:cNvSpPr/>
          <p:nvPr>
            <p:custDataLst>
              <p:tags r:id="rId5"/>
            </p:custDataLst>
          </p:nvPr>
        </p:nvSpPr>
        <p:spPr>
          <a:xfrm>
            <a:off x="952500" y="3810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上游基础层 · AI的“水电煤”</a:t>
            </a:r>
            <a:endParaRPr lang="en-US" sz="1100"/>
          </a:p>
        </p:txBody>
      </p:sp>
      <p:sp>
        <p:nvSpPr>
          <p:cNvPr id="7" name="compare-item1-title-desc"/>
          <p:cNvSpPr/>
          <p:nvPr>
            <p:custDataLst>
              <p:tags r:id="rId6"/>
            </p:custDataLst>
          </p:nvPr>
        </p:nvSpPr>
        <p:spPr>
          <a:xfrm>
            <a:off x="952500" y="4318000"/>
            <a:ext cx="2921000" cy="1524000"/>
          </a:xfrm>
          <a:prstGeom prst="roundRect">
            <a:avLst>
              <a:gd name="adj" fmla="val 6666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079500" y="4445000"/>
            <a:ext cx="266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算力：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2026年全球AI芯片规模破</a:t>
            </a:r>
            <a:r>
              <a:rPr lang="en-US" sz="11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800亿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美元，国产份额升至</a:t>
            </a:r>
            <a:r>
              <a:rPr lang="en-US" sz="11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50%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数据：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高质量数据为核心壁垒，合成数据成训练核心来源。</a:t>
            </a:r>
            <a:endParaRPr lang="en-US" sz="11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软件：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依托PyTorch等框架与MLOps工具链构建基础。</a:t>
            </a:r>
            <a:endParaRPr lang="en-US" sz="11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445000" y="1397000"/>
            <a:ext cx="3302000" cy="4826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compare-item2-title"/>
          <p:cNvSpPr/>
          <p:nvPr>
            <p:custDataLst>
              <p:tags r:id="rId9"/>
            </p:custDataLst>
          </p:nvPr>
        </p:nvSpPr>
        <p:spPr>
          <a:xfrm>
            <a:off x="4699000" y="2921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中游技术层 · AI的“大脑”</a:t>
            </a:r>
            <a:endParaRPr lang="en-US" sz="1100"/>
          </a:p>
        </p:txBody>
      </p:sp>
      <p:sp>
        <p:nvSpPr>
          <p:cNvPr id="13" name="compare-item2-title-desc"/>
          <p:cNvSpPr/>
          <p:nvPr>
            <p:custDataLst>
              <p:tags r:id="rId10"/>
            </p:custDataLst>
          </p:nvPr>
        </p:nvSpPr>
        <p:spPr>
          <a:xfrm>
            <a:off x="4699000" y="3556000"/>
            <a:ext cx="2794000" cy="1778000"/>
          </a:xfrm>
          <a:prstGeom prst="roundRect">
            <a:avLst>
              <a:gd name="adj" fmla="val 5714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4826000" y="3746500"/>
            <a:ext cx="254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基座模型：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形成“通用大模型 + 垂直专家模型”的成熟生态格局。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落地衔接：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通过模型微调、轻量化部署与Agent开发，打通技术落地的“最后一公里”。</a:t>
            </a:r>
            <a:endParaRPr lang="en-US" sz="11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8128000" y="1397000"/>
            <a:ext cx="3302000" cy="4826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compare-item3-title"/>
          <p:cNvSpPr/>
          <p:nvPr>
            <p:custDataLst>
              <p:tags r:id="rId13"/>
            </p:custDataLst>
          </p:nvPr>
        </p:nvSpPr>
        <p:spPr>
          <a:xfrm>
            <a:off x="8382000" y="2921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下游应用层 · AI的“手脚”</a:t>
            </a:r>
            <a:endParaRPr lang="en-US" sz="1100"/>
          </a:p>
        </p:txBody>
      </p:sp>
      <p:sp>
        <p:nvSpPr>
          <p:cNvPr id="19" name="compare-item3-title-desc"/>
          <p:cNvSpPr/>
          <p:nvPr>
            <p:custDataLst>
              <p:tags r:id="rId14"/>
            </p:custDataLst>
          </p:nvPr>
        </p:nvSpPr>
        <p:spPr>
          <a:xfrm>
            <a:off x="8382000" y="3556000"/>
            <a:ext cx="2794000" cy="1778000"/>
          </a:xfrm>
          <a:prstGeom prst="roundRect">
            <a:avLst>
              <a:gd name="adj" fmla="val 5714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15"/>
            </p:custDataLst>
          </p:nvPr>
        </p:nvSpPr>
        <p:spPr>
          <a:xfrm>
            <a:off x="8509000" y="3746500"/>
            <a:ext cx="254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企业赛道：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聚焦智能制造、金融科技等，核心价值在于实现业务的</a:t>
            </a: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降本增效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民生场景：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AI教育、医疗、文娱全面爆发，正在深刻重构大众的生活方式。</a:t>
            </a:r>
            <a:endParaRPr lang="en-US" sz="11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1" name="compare-item2-image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4"/>
          <a:srcRect t="692" b="692"/>
          <a:stretch>
            <a:fillRect/>
          </a:stretch>
        </p:blipFill>
        <p:spPr>
          <a:xfrm>
            <a:off x="4540250" y="1479550"/>
            <a:ext cx="3118485" cy="144145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2" name="compare-item3-image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"/>
          <a:srcRect t="692" b="692"/>
          <a:stretch>
            <a:fillRect/>
          </a:stretch>
        </p:blipFill>
        <p:spPr>
          <a:xfrm>
            <a:off x="8057515" y="1565275"/>
            <a:ext cx="3118485" cy="144145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end-title"/>
          <p:cNvSpPr/>
          <p:nvPr/>
        </p:nvSpPr>
        <p:spPr>
          <a:xfrm>
            <a:off x="0" y="317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4" name="end-thanks"/>
          <p:cNvSpPr/>
          <p:nvPr/>
        </p:nvSpPr>
        <p:spPr>
          <a:xfrm>
            <a:off x="0" y="4064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 FOR LISTENING</a:t>
            </a:r>
            <a:endParaRPr lang="en-US" sz="1100"/>
          </a:p>
        </p:txBody>
      </p:sp>
      <p:pic>
        <p:nvPicPr>
          <p:cNvPr id="6" name="end-generation-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615963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2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3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4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5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6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7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8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9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10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11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12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13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14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15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16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17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18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19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20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21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22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23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24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25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26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27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28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29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30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31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32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33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34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5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6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7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8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9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40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41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42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43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44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45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46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47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48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49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50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51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52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53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54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55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56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57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58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59.xml><?xml version="1.0" encoding="utf-8"?>
<p:tagLst xmlns:p="http://schemas.openxmlformats.org/presentationml/2006/main">
  <p:tag name="KSO_WM_DIAGRAM_VIRTUALLY_FRAME" val="{&quot;height&quot;:433,&quot;left&quot;:60,&quot;top&quot;:57,&quot;width&quot;:890}"/>
</p:tagLst>
</file>

<file path=ppt/tags/tag60.xml><?xml version="1.0" encoding="utf-8"?>
<p:tagLst xmlns:p="http://schemas.openxmlformats.org/presentationml/2006/main">
  <p:tag name="KSO_WM_DIAGRAM_VIRTUALLY_FRAME" val="{&quot;height&quot;:433,&quot;left&quot;:60,&quot;top&quot;:57,&quot;width&quot;:890}"/>
</p:tagLst>
</file>

<file path=ppt/tags/tag61.xml><?xml version="1.0" encoding="utf-8"?>
<p:tagLst xmlns:p="http://schemas.openxmlformats.org/presentationml/2006/main">
  <p:tag name="KSO_WM_DIAGRAM_VIRTUALLY_FRAME" val="{&quot;height&quot;:433,&quot;left&quot;:60,&quot;top&quot;:57,&quot;width&quot;:890}"/>
</p:tagLst>
</file>

<file path=ppt/tags/tag62.xml><?xml version="1.0" encoding="utf-8"?>
<p:tagLst xmlns:p="http://schemas.openxmlformats.org/presentationml/2006/main">
  <p:tag name="KSO_WM_DIAGRAM_VIRTUALLY_FRAME" val="{&quot;height&quot;:433,&quot;left&quot;:60,&quot;top&quot;:57,&quot;width&quot;:890}"/>
</p:tagLst>
</file>

<file path=ppt/tags/tag63.xml><?xml version="1.0" encoding="utf-8"?>
<p:tagLst xmlns:p="http://schemas.openxmlformats.org/presentationml/2006/main">
  <p:tag name="KSO_WM_DIAGRAM_VIRTUALLY_FRAME" val="{&quot;height&quot;:433,&quot;left&quot;:60,&quot;top&quot;:57,&quot;width&quot;:890}"/>
</p:tagLst>
</file>

<file path=ppt/tags/tag64.xml><?xml version="1.0" encoding="utf-8"?>
<p:tagLst xmlns:p="http://schemas.openxmlformats.org/presentationml/2006/main">
  <p:tag name="KSO_WM_DIAGRAM_VIRTUALLY_FRAME" val="{&quot;height&quot;:433,&quot;left&quot;:60,&quot;top&quot;:57,&quot;width&quot;:890}"/>
</p:tagLst>
</file>

<file path=ppt/tags/tag65.xml><?xml version="1.0" encoding="utf-8"?>
<p:tagLst xmlns:p="http://schemas.openxmlformats.org/presentationml/2006/main">
  <p:tag name="KSO_WM_DIAGRAM_VIRTUALLY_FRAME" val="{&quot;height&quot;:433,&quot;left&quot;:60,&quot;top&quot;:57,&quot;width&quot;:890}"/>
</p:tagLst>
</file>

<file path=ppt/tags/tag66.xml><?xml version="1.0" encoding="utf-8"?>
<p:tagLst xmlns:p="http://schemas.openxmlformats.org/presentationml/2006/main">
  <p:tag name="KSO_WM_DIAGRAM_VIRTUALLY_FRAME" val="{&quot;height&quot;:433,&quot;left&quot;:60,&quot;top&quot;:57,&quot;width&quot;:890}"/>
</p:tagLst>
</file>

<file path=ppt/tags/tag67.xml><?xml version="1.0" encoding="utf-8"?>
<p:tagLst xmlns:p="http://schemas.openxmlformats.org/presentationml/2006/main">
  <p:tag name="KSO_WM_DIAGRAM_VIRTUALLY_FRAME" val="{&quot;height&quot;:433,&quot;left&quot;:60,&quot;top&quot;:57,&quot;width&quot;:890}"/>
</p:tagLst>
</file>

<file path=ppt/tags/tag68.xml><?xml version="1.0" encoding="utf-8"?>
<p:tagLst xmlns:p="http://schemas.openxmlformats.org/presentationml/2006/main">
  <p:tag name="KSO_WM_DIAGRAM_VIRTUALLY_FRAME" val="{&quot;height&quot;:433,&quot;left&quot;:60,&quot;top&quot;:57,&quot;width&quot;:890}"/>
</p:tagLst>
</file>

<file path=ppt/tags/tag69.xml><?xml version="1.0" encoding="utf-8"?>
<p:tagLst xmlns:p="http://schemas.openxmlformats.org/presentationml/2006/main">
  <p:tag name="KSO_WM_DIAGRAM_VIRTUALLY_FRAME" val="{&quot;height&quot;:433,&quot;left&quot;:60,&quot;top&quot;:57,&quot;width&quot;:890}"/>
</p:tagLst>
</file>

<file path=ppt/tags/tag70.xml><?xml version="1.0" encoding="utf-8"?>
<p:tagLst xmlns:p="http://schemas.openxmlformats.org/presentationml/2006/main">
  <p:tag name="KSO_WM_DIAGRAM_VIRTUALLY_FRAME" val="{&quot;height&quot;:433,&quot;left&quot;:60,&quot;top&quot;:57,&quot;width&quot;:890}"/>
</p:tagLst>
</file>

<file path=ppt/tags/tag71.xml><?xml version="1.0" encoding="utf-8"?>
<p:tagLst xmlns:p="http://schemas.openxmlformats.org/presentationml/2006/main">
  <p:tag name="KSO_WM_DIAGRAM_VIRTUALLY_FRAME" val="{&quot;height&quot;:433,&quot;left&quot;:60,&quot;top&quot;:57,&quot;width&quot;:890}"/>
</p:tagLst>
</file>

<file path=ppt/tags/tag72.xml><?xml version="1.0" encoding="utf-8"?>
<p:tagLst xmlns:p="http://schemas.openxmlformats.org/presentationml/2006/main">
  <p:tag name="KSO_WM_DIAGRAM_VIRTUALLY_FRAME" val="{&quot;height&quot;:433,&quot;left&quot;:60,&quot;top&quot;:57,&quot;width&quot;:890}"/>
</p:tagLst>
</file>

<file path=ppt/tags/tag73.xml><?xml version="1.0" encoding="utf-8"?>
<p:tagLst xmlns:p="http://schemas.openxmlformats.org/presentationml/2006/main">
  <p:tag name="KSO_WM_DIAGRAM_VIRTUALLY_FRAME" val="{&quot;height&quot;:433,&quot;left&quot;:60,&quot;top&quot;:57,&quot;width&quot;:89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954</Words>
  <Application>WPS 演示</Application>
  <PresentationFormat/>
  <Paragraphs>96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Microsoft JhengHei UI Light</vt:lpstr>
      <vt:lpstr>MS Gothic</vt:lpstr>
      <vt:lpstr>Noto Serif SC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刘文灿</cp:lastModifiedBy>
  <cp:revision>5</cp:revision>
  <dcterms:created xsi:type="dcterms:W3CDTF">2026-04-22T07:57:00Z</dcterms:created>
  <dcterms:modified xsi:type="dcterms:W3CDTF">2026-04-24T08:27:58Z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2052-12.1.0.24031</vt:lpwstr>
  </property>
  <property fmtid="{D5CDD505-2E9C-101B-9397-08002B2CF9AE}" pid="3" name="ICV">
    <vt:lpwstr>332186B27A3F4ABFBFEABE20F606D2DB_13</vt:lpwstr>
  </property>
</Properties>
</file>